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05840"/>
            <a:ext cx="2560320" cy="411480"/>
          </a:xfrm>
          <a:prstGeom prst="roundRect">
            <a:avLst>
              <a:gd name="adj" fmla="val 22222"/>
            </a:avLst>
          </a:prstGeom>
          <a:solidFill>
            <a:srgbClr val="0284C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05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MEDICINE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ErMate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Emergency Medicine AI Operating System &amp; Intelligent EMR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acute care physicians, eliminating documentation fatigue, and safeguarding patient lives with zero-hallucination, privacy-first clinical AI.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484632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983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 Compliant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5394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On-The-Fly PHI Scrubbing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01568" y="484632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38728" y="4983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Scribe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38728" y="5394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Acute Dictation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71616" y="484632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08776" y="4983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Fabrication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08776" y="5394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Clinical Rules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741664" y="484632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78824" y="4983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Offline-Resilient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78824" y="5394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Mission-Critical PWA Engine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 REALITY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Acute Care Crisis: Burnout, Delays, and Medical Errors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337560" cy="4572000"/>
          </a:xfrm>
          <a:prstGeom prst="roundRect">
            <a:avLst>
              <a:gd name="adj" fmla="val 21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05840" y="2560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Time Lost to Documentation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320040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physicians spend nearly half their 12-hour shifts typing clinical notes into legacy hospital software instead of managing unstable patients at the bedside.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337560" cy="4572000"/>
          </a:xfrm>
          <a:prstGeom prst="roundRect">
            <a:avLst>
              <a:gd name="adj" fmla="val 21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7373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70%+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0" y="2560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Sentinel Events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320040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70% of fatal diagnostic delays and hospital malpractice claims stem from unstructured, fragmented doctor-to-doctor shift handovers and forgotten pending tests.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1463040"/>
            <a:ext cx="3337560" cy="4572000"/>
          </a:xfrm>
          <a:prstGeom prst="roundRect">
            <a:avLst>
              <a:gd name="adj" fmla="val 21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17373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138160" y="2560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Mobile Solutions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38160" y="320040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enterprise EMRs (Epic, Cerner) are desktop-bound, click-heavy, and unsuited for emergency resuscitations. Doctors resort to insecure consumer apps, risking PHI leaks.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ErMate: Purpose-Built Intelligence for Emergency Medicine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120640" cy="2057400"/>
          </a:xfrm>
          <a:prstGeom prst="roundRect">
            <a:avLst>
              <a:gd name="adj" fmla="val 3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SCRIBE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" y="1874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Clinical Scribe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3317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bedside dictation parsing unstructured speech into Primary Survey (ABCDE), SAMPLE history, vitals, and 6-system physical examinations in seconds.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463040"/>
            <a:ext cx="5120640" cy="2057400"/>
          </a:xfrm>
          <a:prstGeom prst="roundRect">
            <a:avLst>
              <a:gd name="adj" fmla="val 3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BOARD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1874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SBAR Handover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automated shift handover board with strictly segregated Plan-Done vs Plan-To-Be-Done, critical alert banners, and 1-click WhatsApp/PDF export.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5120640" cy="2057400"/>
          </a:xfrm>
          <a:prstGeom prst="roundRect">
            <a:avLst>
              <a:gd name="adj" fmla="val 3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NABH DISCHARGES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05840" y="42062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3-Minute NABH Discharges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46634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audit-ready discharge summaries with positive take-home medication provenance, separating acute ER interventions from outpatient prescriptions.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3794760"/>
            <a:ext cx="5120640" cy="2057400"/>
          </a:xfrm>
          <a:prstGeom prst="roundRect">
            <a:avLst>
              <a:gd name="adj" fmla="val 3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COPILOT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0" y="42062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 Conversational Partner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46634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intelligent bedside assistant: 'What is pending for Bed 24?', automatic bed family allocations (11A/11B), and academic rounds debriefs.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ADVANTAGE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Integrity &amp; DPDP 2023 Compliance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515600" cy="1024128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002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DPDP Act 2023 On-The-Fly PHI Scrubbing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938528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server-side stripping masks patient names, UHIDs, phone numbers, and Aadhaar before touching LLMs. Calendar dates become relative anchors ([Day 1], [Day 2]) preserving trajectory without storing calendar PHI.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633472"/>
            <a:ext cx="10515600" cy="1024128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77063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Zero-Hallucination Deterministic Engine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10896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Alerts and reference ranges are hardcoded in pure TypeScript (server/alertCompiler.ts). Undocumented vitals or labs remain null/blank—never manufactured as 'normal' or 'N/A'.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803904"/>
            <a:ext cx="10515600" cy="1024128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941064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Route-Specific Model Matrix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427939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3.5 Sonnet exclusively for clinical reasoning; deterministic temperature 0.0 for extraction; zero dependence on untrusted generic models.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974336"/>
            <a:ext cx="10515600" cy="1024128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111496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Mission-Critical Crash Resilience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5449824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offline-first architecture with an in-memory Critical Ops Registry that protects active voice recordings, saves, and syncs from accidental app unloads or refreshes.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FULL-SPECTRUM ACUTE 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Emergency Department Toolchain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6916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SBAR Shift Handover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0312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board with WhatsApp/PDF exports, bed allocation, and incoming team takeover.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50876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6916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NABH Discharge Summaries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6280" y="210312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clinical prose with take-home prescriptions decoupled from acute ER medications.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63840" y="150876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16916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ABG/VBG Acid-Base Engine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92440" y="210312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delta-delta analysis, Winters' formula, anion gap, and mixed disorder diagnosis.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9776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Dosing Calculator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438912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Weight-banded resuscitation drug calculator adhering to Indian and international pediatric guidelines.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379476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9776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 &amp; Morbidity Audit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26280" y="438912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generation of NABH-ready M&amp;M quality audit reviews directly exported to DOCX.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63840" y="379476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39776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7-Lens Debrief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92440" y="438912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Principles, Pathophysiology, Devil's Advocate, and cognitive trap training for residents.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Transformational Clinical &amp; Financial Impact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116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Documentation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prep reduced from 45 min to under 3 min per shift.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01568" y="146304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38728" y="20116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538728" y="28346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2023 Compliance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84448" y="347472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PHI leaves domestic servers; zero risk of regulatory penalties.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71616" y="146304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08776" y="20116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08776" y="28346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Fields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54496" y="347472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vitals remain unstated; anti-fabrication guards enforce clinical truth.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741664" y="146304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78824" y="20116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hrs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878824" y="28346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Doctor / Shift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24544" y="347472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Physicians reinvest saved time into acute bedside resuscitations.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 &amp; GTM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&amp; Expand: Bottom-Up Clinical Adoption to Enterprise B2B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337560" cy="4572000"/>
          </a:xfrm>
          <a:prstGeom prst="roundRect">
            <a:avLst>
              <a:gd name="adj" fmla="val 21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373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Resident Freemium Tier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VIRALITY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Free standard mobile PWA for ER doctors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33832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Bedside SBAR handover generation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41148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Individual case sheet &amp; quick discharge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484632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Builds deep clinician advocacy &amp; habit loop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463040"/>
            <a:ext cx="3337560" cy="4572000"/>
          </a:xfrm>
          <a:prstGeom prst="roundRect">
            <a:avLst>
              <a:gd name="adj" fmla="val 21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7373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 Clinician / DNB Tier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24028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SAAS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26280" y="26517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Expanded voice transcription minutes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6280" y="33832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- 7-lens rounds debrief &amp; exam quizzes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6280" y="41148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Automated Mortality &amp; Morbidity audits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484632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Advanced pediatric dosing &amp; ABG engines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863840" y="1463040"/>
            <a:ext cx="3337560" cy="4572000"/>
          </a:xfrm>
          <a:prstGeom prst="roundRect">
            <a:avLst>
              <a:gd name="adj" fmla="val 21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17373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Enterprise Hospital SaaS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92440" y="224028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CONTRACT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92440" y="26517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Department-wide real-time census board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92440" y="33832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Verified consultant escalation hierarchy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92440" y="41148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HL7 / FHIR integration with legacy hospital EMRs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92440" y="484632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NABH accreditation compliance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ErMate Dominates the Emergency Department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515600" cy="1024128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00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MEDICINE FOCUS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023360" y="160020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ErMate: 100% Acute &amp; ED Native (Primary Survey, eFAST, ABCDE)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23360" y="1993392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Others: Epic/Cerner: Generic inpatient forms. Ambient scribes: Outpatient clinic focus.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633472"/>
            <a:ext cx="10515600" cy="1024128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7706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HANDOVER (SBAR)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23360" y="2770632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ErMate: Autonomous synthesis, bed boards, Plan Done vs To Be Done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0" y="3163824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Others: Legacy EMRs: Copy-paste paper. Generic scribes: No handover board.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803904"/>
            <a:ext cx="10515600" cy="1024128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9410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COMPLIANCE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0" y="3941064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ErMate: DPDP 2023 domestic de-identification before model reach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23360" y="433425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Others: Cloud LLMs: Massive PHI leak risk. Legacy EMRs: Locked on-prem.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974336"/>
            <a:ext cx="10515600" cy="1024128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1114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INTEGRITY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23360" y="51114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ErMate: Deterministic rules: missing vitals remain unstated, never invented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23360" y="550468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Others: Pure LLMs: Hallucinate normal findings, leading to clinical hazard.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a High-Growth Global Acute Care Software Market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515600" cy="128016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276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TAM: $18.4 Billion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Emergency &amp; Acute Care Software Market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0" y="16916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140,000 acute emergency departments worldwide transitioning to cloud AI clinical infrastructure.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971800"/>
            <a:ext cx="10515600" cy="128016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1363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SAM: $3.2 Billion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&amp; South/SE Asia Acute Care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320040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70,000 public and private hospital emergency units undergoing mandatory digital health &amp; NABH quality accreditation.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4480560"/>
            <a:ext cx="10515600" cy="128016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6451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SOM: $180 Million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5029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2,500 Private Healthcare Networks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470916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Focusing on rapid penetration across corporate hospital chains (Apollo, Fortis, Max, Manipal) and teaching medical centers.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Emergency Department Copilot to Hospital-Wide Acute Nerve Center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337560" cy="4572000"/>
          </a:xfrm>
          <a:prstGeom prst="roundRect">
            <a:avLst>
              <a:gd name="adj" fmla="val 21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37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Q1 - Q2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1031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Core ED Dominance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Ambient multilingual Sarvam/Whisper ASR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33832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Full NABH discharge &amp; handover automation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41148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PWA offline resilience &amp; bed family allocation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484632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DPDP 2023 certified domestic infrastructure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463040"/>
            <a:ext cx="3337560" cy="4572000"/>
          </a:xfrm>
          <a:prstGeom prst="roundRect">
            <a:avLst>
              <a:gd name="adj" fmla="val 21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737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Q3 - Q4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21031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Enterprise Ecosystem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26517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Direct FHIR / HL7 bidirectional EMR connectors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6280" y="33832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Hospital consultant on-call escalation boards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6280" y="41148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Integrated ICU transfer &amp; bed management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484632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Multi-hospital network centralized quality analytics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863840" y="1463040"/>
            <a:ext cx="3337560" cy="4572000"/>
          </a:xfrm>
          <a:prstGeom prst="roundRect">
            <a:avLst>
              <a:gd name="adj" fmla="val 21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1737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&amp; Beyond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92440" y="21031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Autonomous Acute Care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92440" y="26517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Real-time monitor telemetry &amp; early shock alerts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92440" y="33832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Predictive clinical deterioration (NEWS2 / qSOFA)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92440" y="41148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Automated STEMI / Stroke code door-to-needle timers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92440" y="484632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Autonomous clinical trials &amp; registry matching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&amp; INVESTMENT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 in Re-engineering Acute Care Medicine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ErMate is scaling hospital enterprise deployments, expanding hospital chain partnerships, and building the definitive AI platform for acute medicine.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3383280"/>
            <a:ext cx="10515600" cy="2468880"/>
          </a:xfrm>
          <a:prstGeom prst="roundRect">
            <a:avLst>
              <a:gd name="adj" fmla="val 2963"/>
            </a:avLst>
          </a:prstGeom>
          <a:solidFill>
            <a:srgbClr val="1E293B"/>
          </a:solidFill>
          <a:ln w="2540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Priorities: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4114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[OK]  Accelerate hospital enterprise integrations (HL7 / FHIR)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44988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[OK]  Expand high-volume hospital pilot networks in India &amp; APAC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488289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[OK]  Scale dedicated domestic AI compute infrastructure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526694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[OK]  Onboard key emergency clinical advisory leaders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0" y="3657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Clinical Platform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0" y="40690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&amp; PWA: https://ermate.in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varahgrp@gmail.com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Head: Emergency Medicine AI Ops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ErMate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ErMate — Emergency Medicine AI Operating System</dc:title>
  <dc:subject>Investor &amp; Clinical Pitch Deck</dc:subject>
  <dc:creator>ErMate Technologies</dc:creator>
  <cp:lastModifiedBy>ErMate Technologies</cp:lastModifiedBy>
  <cp:revision>1</cp:revision>
  <dcterms:created xsi:type="dcterms:W3CDTF">2026-10-17T10:05:23Z</dcterms:created>
  <dcterms:modified xsi:type="dcterms:W3CDTF">2026-10-17T10:05:23Z</dcterms:modified>
</cp:coreProperties>
</file>